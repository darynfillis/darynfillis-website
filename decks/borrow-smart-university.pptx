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db7a672fd44035" /><Relationship Type="http://schemas.openxmlformats.org/officeDocument/2006/relationships/extended-properties" Target="/docProps/app.xml" Id="R2c6703c0e4434cc3" /><Relationship Type="http://schemas.openxmlformats.org/officeDocument/2006/relationships/officeDocument" Target="/ppt/presentation.xml" Id="Rbee07ee6c7cc4a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c69a56712743b2"/>
  </p:sldMasterIdLst>
  <p:notesMasterIdLst>
    <p:notesMasterId xmlns:r="http://schemas.openxmlformats.org/officeDocument/2006/relationships" r:id="Rc7e091381f0c4f32"/>
  </p:notesMasterIdLst>
  <p:sldIdLst>
    <p:sldId xmlns:r="http://schemas.openxmlformats.org/officeDocument/2006/relationships" id="256" r:id="R05faa80c5c5a42e8"/>
    <p:sldId xmlns:r="http://schemas.openxmlformats.org/officeDocument/2006/relationships" id="257" r:id="Rc66c0f31676246fa"/>
    <p:sldId xmlns:r="http://schemas.openxmlformats.org/officeDocument/2006/relationships" id="258" r:id="Rc8a172d801474425"/>
    <p:sldId xmlns:r="http://schemas.openxmlformats.org/officeDocument/2006/relationships" id="259" r:id="Ra6d9cc58ebaa467c"/>
    <p:sldId xmlns:r="http://schemas.openxmlformats.org/officeDocument/2006/relationships" id="260" r:id="R2c4c197f168e4ec5"/>
    <p:sldId xmlns:r="http://schemas.openxmlformats.org/officeDocument/2006/relationships" id="261" r:id="R8e11c66d9d29449c"/>
    <p:sldId xmlns:r="http://schemas.openxmlformats.org/officeDocument/2006/relationships" id="262" r:id="Rf6c4ef5461634786"/>
    <p:sldId xmlns:r="http://schemas.openxmlformats.org/officeDocument/2006/relationships" id="263" r:id="R9d019a7a030a465c"/>
    <p:sldId xmlns:r="http://schemas.openxmlformats.org/officeDocument/2006/relationships" id="264" r:id="Ra2fd762873ea4beb"/>
    <p:sldId xmlns:r="http://schemas.openxmlformats.org/officeDocument/2006/relationships" id="265" r:id="R6c0ea2e75b1a4087"/>
    <p:sldId xmlns:r="http://schemas.openxmlformats.org/officeDocument/2006/relationships" id="266" r:id="Racc9461ecf744f45"/>
    <p:sldId xmlns:r="http://schemas.openxmlformats.org/officeDocument/2006/relationships" id="267" r:id="R19ebbf3d3cc64e9a"/>
    <p:sldId xmlns:r="http://schemas.openxmlformats.org/officeDocument/2006/relationships" id="268" r:id="R3c1e00a7938c438b"/>
    <p:sldId xmlns:r="http://schemas.openxmlformats.org/officeDocument/2006/relationships" id="269" r:id="Ra817b67244fe4ef4"/>
    <p:sldId xmlns:r="http://schemas.openxmlformats.org/officeDocument/2006/relationships" id="270" r:id="Rd32b63c2801f4655"/>
    <p:sldId xmlns:r="http://schemas.openxmlformats.org/officeDocument/2006/relationships" id="271" r:id="Rb21bc72b6d9b43b3"/>
    <p:sldId xmlns:r="http://schemas.openxmlformats.org/officeDocument/2006/relationships" id="272" r:id="R8181fc7e42844b22"/>
    <p:sldId xmlns:r="http://schemas.openxmlformats.org/officeDocument/2006/relationships" id="273" r:id="R052a90e147c24d11"/>
    <p:sldId xmlns:r="http://schemas.openxmlformats.org/officeDocument/2006/relationships" id="274" r:id="Rb0f5e430e4d4409a"/>
    <p:sldId xmlns:r="http://schemas.openxmlformats.org/officeDocument/2006/relationships" id="275" r:id="R0aa04d2be87f43c0"/>
    <p:sldId xmlns:r="http://schemas.openxmlformats.org/officeDocument/2006/relationships" id="276" r:id="Re22115fc00a3484f"/>
    <p:sldId xmlns:r="http://schemas.openxmlformats.org/officeDocument/2006/relationships" id="277" r:id="R4648228c4d094d8d"/>
    <p:sldId xmlns:r="http://schemas.openxmlformats.org/officeDocument/2006/relationships" id="278" r:id="R71bdf7d19f78441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3c5cbb51274527" /><Relationship Type="http://schemas.openxmlformats.org/officeDocument/2006/relationships/slideMaster" Target="/ppt/slideMasters/slideMaster1.xml" Id="R70c69a56712743b2" /><Relationship Type="http://schemas.openxmlformats.org/officeDocument/2006/relationships/notesMaster" Target="/ppt/notesMasters/notesMaster1.xml" Id="Rc7e091381f0c4f32" /><Relationship Type="http://schemas.openxmlformats.org/officeDocument/2006/relationships/presProps" Target="/ppt/presProps.xml" Id="R9d43cdf5449e4460" /><Relationship Type="http://schemas.openxmlformats.org/officeDocument/2006/relationships/tableStyles" Target="/ppt/tableStyles.xml" Id="Rb14ab20c6ed240e5" /><Relationship Type="http://schemas.openxmlformats.org/officeDocument/2006/relationships/slide" Target="/ppt/slides/slide1.xml" Id="R05faa80c5c5a42e8" /><Relationship Type="http://schemas.openxmlformats.org/officeDocument/2006/relationships/slide" Target="/ppt/slides/slide2.xml" Id="Rc66c0f31676246fa" /><Relationship Type="http://schemas.openxmlformats.org/officeDocument/2006/relationships/slide" Target="/ppt/slides/slide3.xml" Id="Rc8a172d801474425" /><Relationship Type="http://schemas.openxmlformats.org/officeDocument/2006/relationships/slide" Target="/ppt/slides/slide4.xml" Id="Ra6d9cc58ebaa467c" /><Relationship Type="http://schemas.openxmlformats.org/officeDocument/2006/relationships/slide" Target="/ppt/slides/slide5.xml" Id="R2c4c197f168e4ec5" /><Relationship Type="http://schemas.openxmlformats.org/officeDocument/2006/relationships/slide" Target="/ppt/slides/slide6.xml" Id="R8e11c66d9d29449c" /><Relationship Type="http://schemas.openxmlformats.org/officeDocument/2006/relationships/slide" Target="/ppt/slides/slide7.xml" Id="Rf6c4ef5461634786" /><Relationship Type="http://schemas.openxmlformats.org/officeDocument/2006/relationships/slide" Target="/ppt/slides/slide8.xml" Id="R9d019a7a030a465c" /><Relationship Type="http://schemas.openxmlformats.org/officeDocument/2006/relationships/slide" Target="/ppt/slides/slide9.xml" Id="Ra2fd762873ea4beb" /><Relationship Type="http://schemas.openxmlformats.org/officeDocument/2006/relationships/slide" Target="/ppt/slides/slide10.xml" Id="R6c0ea2e75b1a4087" /><Relationship Type="http://schemas.openxmlformats.org/officeDocument/2006/relationships/slide" Target="/ppt/slides/slide11.xml" Id="Racc9461ecf744f45" /><Relationship Type="http://schemas.openxmlformats.org/officeDocument/2006/relationships/slide" Target="/ppt/slides/slide12.xml" Id="R19ebbf3d3cc64e9a" /><Relationship Type="http://schemas.openxmlformats.org/officeDocument/2006/relationships/slide" Target="/ppt/slides/slide13.xml" Id="R3c1e00a7938c438b" /><Relationship Type="http://schemas.openxmlformats.org/officeDocument/2006/relationships/slide" Target="/ppt/slides/slide14.xml" Id="Ra817b67244fe4ef4" /><Relationship Type="http://schemas.openxmlformats.org/officeDocument/2006/relationships/slide" Target="/ppt/slides/slide15.xml" Id="Rd32b63c2801f4655" /><Relationship Type="http://schemas.openxmlformats.org/officeDocument/2006/relationships/slide" Target="/ppt/slides/slide16.xml" Id="Rb21bc72b6d9b43b3" /><Relationship Type="http://schemas.openxmlformats.org/officeDocument/2006/relationships/slide" Target="/ppt/slides/slide17.xml" Id="R8181fc7e42844b22" /><Relationship Type="http://schemas.openxmlformats.org/officeDocument/2006/relationships/slide" Target="/ppt/slides/slide18.xml" Id="R052a90e147c24d11" /><Relationship Type="http://schemas.openxmlformats.org/officeDocument/2006/relationships/slide" Target="/ppt/slides/slide19.xml" Id="Rb0f5e430e4d4409a" /><Relationship Type="http://schemas.openxmlformats.org/officeDocument/2006/relationships/slide" Target="/ppt/slides/slide20.xml" Id="R0aa04d2be87f43c0" /><Relationship Type="http://schemas.openxmlformats.org/officeDocument/2006/relationships/slide" Target="/ppt/slides/slide21.xml" Id="Re22115fc00a3484f" /><Relationship Type="http://schemas.openxmlformats.org/officeDocument/2006/relationships/slide" Target="/ppt/slides/slide22.xml" Id="R4648228c4d094d8d" /><Relationship Type="http://schemas.openxmlformats.org/officeDocument/2006/relationships/slide" Target="/ppt/slides/slide23.xml" Id="R71bdf7d19f7844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fbede1e09f4c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fc295d617a4949" /><Relationship Type="http://schemas.openxmlformats.org/officeDocument/2006/relationships/notesMaster" Target="/ppt/notesMasters/notesMaster1.xml" Id="R9c98737c3dda4c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1170e172724a25" /><Relationship Type="http://schemas.openxmlformats.org/officeDocument/2006/relationships/notesMaster" Target="/ppt/notesMasters/notesMaster1.xml" Id="R8a2203f04c5d49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ba7d39b271348ba" /><Relationship Type="http://schemas.openxmlformats.org/officeDocument/2006/relationships/notesMaster" Target="/ppt/notesMasters/notesMaster1.xml" Id="Rc3cb43ceb0a74b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68a99df9d143a2" /><Relationship Type="http://schemas.openxmlformats.org/officeDocument/2006/relationships/notesMaster" Target="/ppt/notesMasters/notesMaster1.xml" Id="R6c851fcba5b942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97be2a28f3430d" /><Relationship Type="http://schemas.openxmlformats.org/officeDocument/2006/relationships/notesMaster" Target="/ppt/notesMasters/notesMaster1.xml" Id="R2ec8e5650bd645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5a43b87e6f4321" /><Relationship Type="http://schemas.openxmlformats.org/officeDocument/2006/relationships/notesMaster" Target="/ppt/notesMasters/notesMaster1.xml" Id="R4905ce20b28742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cf12ad7f4d4d0b" /><Relationship Type="http://schemas.openxmlformats.org/officeDocument/2006/relationships/notesMaster" Target="/ppt/notesMasters/notesMaster1.xml" Id="R8f7fd9bd7beb40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1e051032014719" /><Relationship Type="http://schemas.openxmlformats.org/officeDocument/2006/relationships/notesMaster" Target="/ppt/notesMasters/notesMaster1.xml" Id="R8e2ad173bec641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340656a35448a9" /><Relationship Type="http://schemas.openxmlformats.org/officeDocument/2006/relationships/notesMaster" Target="/ppt/notesMasters/notesMaster1.xml" Id="R0fb4f482809549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531b043e3a4ad2" /><Relationship Type="http://schemas.openxmlformats.org/officeDocument/2006/relationships/notesMaster" Target="/ppt/notesMasters/notesMaster1.xml" Id="Rf4f9545dc832457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d7270e5ae134b61" /><Relationship Type="http://schemas.openxmlformats.org/officeDocument/2006/relationships/notesMaster" Target="/ppt/notesMasters/notesMaster1.xml" Id="R5f3c6a05de0f45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12b966fb04430e" /><Relationship Type="http://schemas.openxmlformats.org/officeDocument/2006/relationships/notesMaster" Target="/ppt/notesMasters/notesMaster1.xml" Id="R69e3aa955fc34e6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f86883450db424e" /><Relationship Type="http://schemas.openxmlformats.org/officeDocument/2006/relationships/notesMaster" Target="/ppt/notesMasters/notesMaster1.xml" Id="Rfb1eb1c274564cd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c0a74f20a9f4879" /><Relationship Type="http://schemas.openxmlformats.org/officeDocument/2006/relationships/notesMaster" Target="/ppt/notesMasters/notesMaster1.xml" Id="Rffd06ca155b2453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bddfc90c64b4986" /><Relationship Type="http://schemas.openxmlformats.org/officeDocument/2006/relationships/notesMaster" Target="/ppt/notesMasters/notesMaster1.xml" Id="Re66adce691ff406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0e74b80edea45a5" /><Relationship Type="http://schemas.openxmlformats.org/officeDocument/2006/relationships/notesMaster" Target="/ppt/notesMasters/notesMaster1.xml" Id="R8f123315fb26418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b47d897cd7a46d5" /><Relationship Type="http://schemas.openxmlformats.org/officeDocument/2006/relationships/notesMaster" Target="/ppt/notesMasters/notesMaster1.xml" Id="R57fdb41ec7ad44f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9134d46495d4d9e" /><Relationship Type="http://schemas.openxmlformats.org/officeDocument/2006/relationships/notesMaster" Target="/ppt/notesMasters/notesMaster1.xml" Id="R84509417f23f4f0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20a15aa08954e22" /><Relationship Type="http://schemas.openxmlformats.org/officeDocument/2006/relationships/notesMaster" Target="/ppt/notesMasters/notesMaster1.xml" Id="R656958686b1744e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244f8b84d404ed2" /><Relationship Type="http://schemas.openxmlformats.org/officeDocument/2006/relationships/notesMaster" Target="/ppt/notesMasters/notesMaster1.xml" Id="R42b0ee812992439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daf141c920142a8" /><Relationship Type="http://schemas.openxmlformats.org/officeDocument/2006/relationships/notesMaster" Target="/ppt/notesMasters/notesMaster1.xml" Id="R86a987dbfc8348d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03723e5836b4741" /><Relationship Type="http://schemas.openxmlformats.org/officeDocument/2006/relationships/notesMaster" Target="/ppt/notesMasters/notesMaster1.xml" Id="R3d04e143e89a491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57189b680f04228" /><Relationship Type="http://schemas.openxmlformats.org/officeDocument/2006/relationships/notesMaster" Target="/ppt/notesMasters/notesMaster1.xml" Id="R58db6c89aba041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 1: Title. Keep it brief. The promise is about the agent, not the book.]</a:t>
            </a:r>
          </a:p>
          <a:p xmlns:a="http://schemas.openxmlformats.org/drawingml/2006/main">
            <a:r>
              <a:t>"The third side is real estate. That means you already have a seat in the wealth conversation."</a:t>
            </a:r>
          </a:p>
          <a:p xmlns:a="http://schemas.openxmlformats.org/drawingml/2006/main">
            <a:r>
              <a:t>"Today I want to show you how important your role really is, and how to use it without stepping outside your lane."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 1: Bold opening. Let the question finish typing. Pause.]</a:t>
            </a:r>
          </a:p>
          <a:p xmlns:a="http://schemas.openxmlformats.org/drawingml/2006/main">
            <a:r>
              <a:t>"Before we talk about price, property, or financing, what are we trying to make possible?"</a:t>
            </a:r>
          </a:p>
          <a:p xmlns:a="http://schemas.openxmlformats.org/drawingml/2006/main">
            <a:r>
              <a:t>Ask the room for one life event that recently caused a client to move.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 1 continued: The stakes. Reveal Home, Real Estate, and Mortgage.]</a:t>
            </a:r>
          </a:p>
          <a:p xmlns:a="http://schemas.openxmlformats.org/drawingml/2006/main">
            <a:r>
              <a:t>"For many households, the home and mortgage are the biggest financial positions they manage, but the decision is still deeply personal."</a:t>
            </a:r>
          </a:p>
          <a:p xmlns:a="http://schemas.openxmlformats.org/drawingml/2006/main">
            <a:r>
              <a:t>"That is why the transaction cannot be separated from the life around it."</a:t>
            </a:r>
          </a:p>
          <a:p xmlns:a="http://schemas.openxmlformats.org/drawingml/2006/main">
            <a:r>
              <a:t>[Sources] Todd K. Ballenger, Borrow Smart Repay Smart, 2020 edition, PDF pp. 11-17.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 2: Credibility. Relevant proof only.]</a:t>
            </a:r>
          </a:p>
          <a:p xmlns:a="http://schemas.openxmlformats.org/drawingml/2006/main">
            <a:r>
              <a:t>"My job is to connect the property decision to the goal, timeline, cash flow, liquidity, equity, and risk before recommending a structure."</a:t>
            </a:r>
          </a:p>
          <a:p xmlns:a="http://schemas.openxmlformats.org/drawingml/2006/main">
            <a:r>
              <a:t>"When the agent and mortgage strategist ask better questions together, the client can decide before an offer creates urgency."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Steps 3 and 4: Roadmap plus unique mechanism. Reveal real estate, assets, liabilities, then the client at the center.]</a:t>
            </a:r>
          </a:p>
          <a:p xmlns:a="http://schemas.openxmlformats.org/drawingml/2006/main">
            <a:r>
              <a:t>"Borrow Smart asks us to see assets, liabilities, and real estate as one connected system."</a:t>
            </a:r>
          </a:p>
          <a:p xmlns:a="http://schemas.openxmlformats.org/drawingml/2006/main">
            <a:r>
              <a:t>"The third side is where you work every day. The client and the life they are building stay at the center of all three."</a:t>
            </a:r>
          </a:p>
          <a:p xmlns:a="http://schemas.openxmlformats.org/drawingml/2006/main">
            <a:r>
              <a:t>Do not call real estate guaranteed wealth. Emphasize position, choices, costs, and risk.</a:t>
            </a:r>
          </a:p>
          <a:p xmlns:a="http://schemas.openxmlformats.org/drawingml/2006/main">
            <a:r>
              <a:t>[Sources] Todd K. Ballenger, Borrow Smart Repay Smart, 2020 edition, PDF pp. 23-28. Todd Ballenger, The Borrow Smart Chronicles, Rentals and Wealth Gaps, Aug. 2, 2024.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 5: Break false belief 1. Validate the boundary first.]</a:t>
            </a:r>
          </a:p>
          <a:p xmlns:a="http://schemas.openxmlformats.org/drawingml/2006/main">
            <a:r>
              <a:t>"You are right not to give investment, tax, legal, insurance, or mortgage advice outside your expertise."</a:t>
            </a:r>
          </a:p>
          <a:p xmlns:a="http://schemas.openxmlformats.org/drawingml/2006/main">
            <a:r>
              <a:t>"But staying in your lane does not mean shrinking the conversation. It means asking the questions that bring the right experts into it."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[Reveal one influence point at a time.]</a:t>
            </a:r>
          </a:p>
          <a:p xmlns:a="http://schemas.openxmlformats.org/drawingml/2006/main">
            <a:r>
              <a:t>Connect Location, Property, Contract, and Possibility to one real buyer you have helped.</a:t>
            </a:r>
          </a:p>
          <a:p xmlns:a="http://schemas.openxmlformats.org/drawingml/2006/main">
            <a:r>
              <a:t>"The agent shapes the third side before the lender ever finalizes the liability."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[Audience engagement. Ask for a real show of hands before revealing all four choices.]</a:t>
            </a:r>
          </a:p>
          <a:p xmlns:a="http://schemas.openxmlformats.org/drawingml/2006/main">
            <a:r>
              <a:t>Follow with: "The point is not that one starting place is always wrong. The order changes what the client notices and what they may miss."</a:t>
            </a:r>
          </a:p>
          <a:p xmlns:a="http://schemas.openxmlformats.org/drawingml/2006/main">
            <a:r>
              <a:t>"Life first does not ignore qualification. It gives qualification a purpose."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 6: Teach the foundation. Keep the accounting simple.]</a:t>
            </a:r>
          </a:p>
          <a:p xmlns:a="http://schemas.openxmlformats.org/drawingml/2006/main">
            <a:r>
              <a:t>"Moving cash from checking to an investment or using it to reduce debt can be neutral in the moment. The location changes what the money can do later."</a:t>
            </a:r>
          </a:p>
          <a:p xmlns:a="http://schemas.openxmlformats.org/drawingml/2006/main">
            <a:r>
              <a:t>"Where you place your money matters."</a:t>
            </a:r>
          </a:p>
          <a:p xmlns:a="http://schemas.openxmlformats.org/drawingml/2006/main">
            <a:r>
              <a:t>[Sources] Todd K. Ballenger, Borrow Smart Repay Smart, 2020 edition, PDF pp. 23-26.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 6: Teach the third side. Reveal asset, real estate, liability.]</a:t>
            </a:r>
          </a:p>
          <a:p xmlns:a="http://schemas.openxmlformats.org/drawingml/2006/main">
            <a:r>
              <a:t>"Real estate is unusual because the client lives inside the asset while the property carries costs and often a mortgage."</a:t>
            </a:r>
          </a:p>
          <a:p xmlns:a="http://schemas.openxmlformats.org/drawingml/2006/main">
            <a:r>
              <a:t>"The third side connects the life, the asset, and the liability."</a:t>
            </a:r>
          </a:p>
          <a:p xmlns:a="http://schemas.openxmlformats.org/drawingml/2006/main">
            <a:r>
              <a:t>[Sources] Todd K. Ballenger, Borrow Smart Repay Smart, 2020 edition, PDF pp. 11-17 and 23-28. Todd K. Ballenger, The Key to Success in a Compliant World, Mortgage Professional, June 6, 2012.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[Slow down. This is the life-first bridge.]</a:t>
            </a:r>
          </a:p>
          <a:p xmlns:a="http://schemas.openxmlformats.org/drawingml/2006/main">
            <a:r>
              <a:t>"The house is the structure and the financial position. Home is the life lived inside it."</a:t>
            </a:r>
          </a:p>
          <a:p xmlns:a="http://schemas.openxmlformats.org/drawingml/2006/main">
            <a:r>
              <a:t>Ask: "What changes when we treat those as related, but not identical?"</a:t>
            </a:r>
          </a:p>
          <a:p xmlns:a="http://schemas.openxmlformats.org/drawingml/2006/main">
            <a:r>
              <a:t>[Sources] Todd K. Ballenger, Borrow Smart Repay Smart, 2020 edition, PDF pp. 11-13.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 5: Break false belief 2.]</a:t>
            </a:r>
          </a:p>
          <a:p xmlns:a="http://schemas.openxmlformats.org/drawingml/2006/main">
            <a:r>
              <a:t>"Qualification is important. It tells us what may be available under a set of guidelines."</a:t>
            </a:r>
          </a:p>
          <a:p xmlns:a="http://schemas.openxmlformats.org/drawingml/2006/main">
            <a:r>
              <a:t>"It does not decide what leaves room for the rest of the client's life."</a:t>
            </a:r>
          </a:p>
          <a:p xmlns:a="http://schemas.openxmlformats.org/drawingml/2006/main">
            <a:r>
              <a:t>Avoid using suitability as a legal claim. Keep the language to fit, tradeoffs, and client choice.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[Reframe the agent as a question leader, not a substitute advisor.]</a:t>
            </a:r>
          </a:p>
          <a:p xmlns:a="http://schemas.openxmlformats.org/drawingml/2006/main">
            <a:r>
              <a:t>Reveal Ask, Surface, Connect, Coordinate, Document, and Revisit.</a:t>
            </a:r>
          </a:p>
          <a:p xmlns:a="http://schemas.openxmlformats.org/drawingml/2006/main">
            <a:r>
              <a:t>"Your value is not knowing every answer. It is knowing when the client needs a bigger question and who should answer it."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 6: Teach the usable framework. Reveal the four questions.]</a:t>
            </a:r>
          </a:p>
          <a:p xmlns:a="http://schemas.openxmlformats.org/drawingml/2006/main">
            <a:r>
              <a:t>"Life tells us the destination. Property tells us the tradeoffs. Position tells us what changes financially. Path tells us what must remain possible."</a:t>
            </a:r>
          </a:p>
          <a:p xmlns:a="http://schemas.openxmlformats.org/drawingml/2006/main">
            <a:r>
              <a:t>Ask the room to repeat the four words: Life. Property. Position. Path.</a:t>
            </a:r>
          </a:p>
          <a:p xmlns:a="http://schemas.openxmlformats.org/drawingml/2006/main">
            <a:r>
              <a:t>[Sources] The Third-Side Conversation is Daryn Fillis's life-first synthesis of the Borrow Smart balance-sheet and seven-step teachings.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[Apply the framework before search.]</a:t>
            </a:r>
          </a:p>
          <a:p xmlns:a="http://schemas.openxmlformats.org/drawingml/2006/main">
            <a:r>
              <a:t>"Guardrails are not limitations. They protect the client from letting a beautiful listing rewrite the plan."</a:t>
            </a:r>
          </a:p>
          <a:p xmlns:a="http://schemas.openxmlformats.org/drawingml/2006/main">
            <a:r>
              <a:t>Ask agents which guardrail is usually missing from their first buyer meeting.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[Apply the framework during search. Reveal each category.]</a:t>
            </a:r>
          </a:p>
          <a:p xmlns:a="http://schemas.openxmlformats.org/drawingml/2006/main">
            <a:r>
              <a:t>"A showing is also due diligence on the third side."</a:t>
            </a:r>
          </a:p>
          <a:p xmlns:a="http://schemas.openxmlformats.org/drawingml/2006/main">
            <a:r>
              <a:t>Use a local example such as HOA dues, insurance, condition, commute, or project eligibility. Do not promise marketability or appreciation.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[Apply the framework before offer.]</a:t>
            </a:r>
          </a:p>
          <a:p xmlns:a="http://schemas.openxmlformats.org/drawingml/2006/main">
            <a:r>
              <a:t>"The strongest offer starts before it is written."</a:t>
            </a:r>
          </a:p>
          <a:p xmlns:a="http://schemas.openxmlformats.org/drawingml/2006/main">
            <a:r>
              <a:t>"Check the property, compare the tradeoffs, and coordinate the execution while the client still has room to think."</a:t>
            </a:r>
          </a:p>
          <a:p xmlns:a="http://schemas.openxmlformats.org/drawingml/2006/main">
            <a:r>
              <a:t>Invite one agent to name a recent issue that better coordination could have surfaced sooner.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[Show the relationship after closing.]</a:t>
            </a:r>
          </a:p>
          <a:p xmlns:a="http://schemas.openxmlformats.org/drawingml/2006/main">
            <a:r>
              <a:t>"Closing is the starting line. The client is now living with the payment, the property, and the plan."</a:t>
            </a:r>
          </a:p>
          <a:p xmlns:a="http://schemas.openxmlformats.org/drawingml/2006/main">
            <a:r>
              <a:t>"The loan is temporary. The strategy lasts."</a:t>
            </a:r>
          </a:p>
          <a:p xmlns:a="http://schemas.openxmlformats.org/drawingml/2006/main">
            <a:r>
              <a:t>[Sources] Todd K. Ballenger, Borrow Smart Repay Smart, 2020 edition, Management and Discipline, PDF pp. 180-205.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[Position the team without blurring professional boundaries.]</a:t>
            </a:r>
          </a:p>
          <a:p xmlns:a="http://schemas.openxmlformats.org/drawingml/2006/main">
            <a:r>
              <a:t>"The agent owns the market and property conversation. The mortgage strategist owns the lending analysis. Other qualified professionals confirm tax, insurance, estate, and investment questions. The client owns the decision."</a:t>
            </a:r>
          </a:p>
          <a:p xmlns:a="http://schemas.openxmlformats.org/drawingml/2006/main">
            <a:r>
              <a:t>"No one professional owns the whole wealth journey. The value is in the connection."</a:t>
            </a:r>
          </a:p>
          <a:p xmlns:a="http://schemas.openxmlformats.org/drawingml/2006/main">
            <a:r>
              <a:t>[Sources] Todd K. Ballenger, Borrow Smart Repay Smart, 2020 edition, PDF pp. 180-183.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 7: Scenario. This is illustrative. Do not invent numbers.]</a:t>
            </a:r>
          </a:p>
          <a:p xmlns:a="http://schemas.openxmlformats.org/drawingml/2006/main">
            <a:r>
              <a:t>Read both options without endorsing either one.</a:t>
            </a:r>
          </a:p>
          <a:p xmlns:a="http://schemas.openxmlformats.org/drawingml/2006/main">
            <a:r>
              <a:t>Ask the room: "What do we still need to know?" Listen for time horizon, monthly comfort, reserves, childcare, commute, risk, property condition, and future plans.</a:t>
            </a:r>
          </a:p>
          <a:p xmlns:a="http://schemas.openxmlformats.org/drawingml/2006/main">
            <a:r>
              <a:t>"The better option is the one that fits the client after the missing facts are visible."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Steps 8 and 9: Interest check plus concrete offer.]</a:t>
            </a:r>
          </a:p>
          <a:p xmlns:a="http://schemas.openxmlformats.org/drawingml/2006/main">
            <a:r>
              <a:t>Ask: "Would a 15-minute third-side review make one current client clearer?" Wait for hands or chat responses.</a:t>
            </a:r>
          </a:p>
          <a:p xmlns:a="http://schemas.openxmlformats.org/drawingml/2006/main">
            <a:r>
              <a:t>Invite them to bring one current buyer or homeowner. Then scan the code.</a:t>
            </a:r>
          </a:p>
          <a:p xmlns:a="http://schemas.openxmlformats.org/drawingml/2006/main">
            <a:r>
              <a:t>"Life. Property. Position. Path. Four questions before the next structure or offer."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 10: Emotional close. Warm, direct, unhurried.]</a:t>
            </a:r>
          </a:p>
          <a:p xmlns:a="http://schemas.openxmlformats.org/drawingml/2006/main">
            <a:r>
              <a:t>"You help clients choose more than the house."</a:t>
            </a:r>
          </a:p>
          <a:p xmlns:a="http://schemas.openxmlformats.org/drawingml/2006/main">
            <a:r>
              <a:t>"You help shape the third side of the balance sheet and the options that remain after closing."</a:t>
            </a:r>
          </a:p>
          <a:p xmlns:a="http://schemas.openxmlformats.org/drawingml/2006/main">
            <a:r>
              <a:t>"Start with the life. Then structure the loan."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[STTS Step 11: Q&amp;A. Keep the third-side question visible.]</a:t>
            </a:r>
          </a:p>
          <a:p xmlns:a="http://schemas.openxmlformats.org/drawingml/2006/main">
            <a:r>
              <a:t>Invite questions about one real buyer or homeowner, not broad market predictions.</a:t>
            </a:r>
          </a:p>
          <a:p xmlns:a="http://schemas.openxmlformats.org/drawingml/2006/main">
            <a:r>
              <a:t>Useful prompts: life change, property tradeoff, cash and reserves, liabilities, timing, and the post-closing path.</a:t>
            </a:r>
          </a:p>
          <a:p xmlns:a="http://schemas.openxmlformats.org/drawingml/2006/main">
            <a:r>
              <a:t>Close each answer by identifying the next better question and the right professional to answer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904812f4b34e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7deecc13ed42fc" /><Relationship Type="http://schemas.openxmlformats.org/officeDocument/2006/relationships/slideLayout" Target="/ppt/slideLayouts/slideLayout1.xml" Id="Raaeb9a9226404f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eb9a9226404f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fa52e80d34d51" /><Relationship Type="http://schemas.openxmlformats.org/officeDocument/2006/relationships/image" Target="/ppt/media/image.png" Id="R118c85c97f6943e7" /><Relationship Type="http://schemas.openxmlformats.org/officeDocument/2006/relationships/notesSlide" Target="/ppt/notesSlides/notesSlide1.xml" Id="R2d52a646ca624d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6acde48fff4f02" /><Relationship Type="http://schemas.openxmlformats.org/officeDocument/2006/relationships/image" Target="/ppt/media/image2.png" Id="Refaa58f30f7e4f6e" /><Relationship Type="http://schemas.openxmlformats.org/officeDocument/2006/relationships/notesSlide" Target="/ppt/notesSlides/notesSlide2.xml" Id="R91fdcfdfa3b448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373a6a7d7f464d" /><Relationship Type="http://schemas.openxmlformats.org/officeDocument/2006/relationships/image" Target="/ppt/media/image3.png" Id="R0543366ef0434fd4" /><Relationship Type="http://schemas.openxmlformats.org/officeDocument/2006/relationships/notesSlide" Target="/ppt/notesSlides/notesSlide3.xml" Id="Ra57c4b0e8d7f4f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12189a08f4a48" /><Relationship Type="http://schemas.openxmlformats.org/officeDocument/2006/relationships/image" Target="/ppt/media/image4.png" Id="Ra509badd33f74075" /><Relationship Type="http://schemas.openxmlformats.org/officeDocument/2006/relationships/notesSlide" Target="/ppt/notesSlides/notesSlide4.xml" Id="Re92ce74cab404c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8e4df10334f9b" /><Relationship Type="http://schemas.openxmlformats.org/officeDocument/2006/relationships/image" Target="/ppt/media/image5.png" Id="R315778c8f5dd4f8d" /><Relationship Type="http://schemas.openxmlformats.org/officeDocument/2006/relationships/notesSlide" Target="/ppt/notesSlides/notesSlide5.xml" Id="Rc97a58bdfa9342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8a80b891e4b5e" /><Relationship Type="http://schemas.openxmlformats.org/officeDocument/2006/relationships/image" Target="/ppt/media/image6.png" Id="R12b94cc4ac6f414f" /><Relationship Type="http://schemas.openxmlformats.org/officeDocument/2006/relationships/notesSlide" Target="/ppt/notesSlides/notesSlide6.xml" Id="R911f4967ec2a4e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ce7918c4f4cd4" /><Relationship Type="http://schemas.openxmlformats.org/officeDocument/2006/relationships/image" Target="/ppt/media/image7.png" Id="Rf7d903a0873d4df8" /><Relationship Type="http://schemas.openxmlformats.org/officeDocument/2006/relationships/notesSlide" Target="/ppt/notesSlides/notesSlide7.xml" Id="Rb00204ba9b6e4f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de049829224c47" /><Relationship Type="http://schemas.openxmlformats.org/officeDocument/2006/relationships/image" Target="/ppt/media/image8.png" Id="Rdb58346f26414ea8" /><Relationship Type="http://schemas.openxmlformats.org/officeDocument/2006/relationships/notesSlide" Target="/ppt/notesSlides/notesSlide8.xml" Id="Rc3288ba6604e4c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92717e27eb4f99" /><Relationship Type="http://schemas.openxmlformats.org/officeDocument/2006/relationships/image" Target="/ppt/media/image9.png" Id="R8c68b7e778ef47e0" /><Relationship Type="http://schemas.openxmlformats.org/officeDocument/2006/relationships/notesSlide" Target="/ppt/notesSlides/notesSlide9.xml" Id="R684740a46d0449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8647c2c0d4e8e" /><Relationship Type="http://schemas.openxmlformats.org/officeDocument/2006/relationships/image" Target="/ppt/media/image10.png" Id="Rd7e2b4c48d8941eb" /><Relationship Type="http://schemas.openxmlformats.org/officeDocument/2006/relationships/notesSlide" Target="/ppt/notesSlides/notesSlide10.xml" Id="Rde509ea40727498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0fbf6da3e4c1d" /><Relationship Type="http://schemas.openxmlformats.org/officeDocument/2006/relationships/image" Target="/ppt/media/image11.png" Id="R11bba329d83d4f97" /><Relationship Type="http://schemas.openxmlformats.org/officeDocument/2006/relationships/notesSlide" Target="/ppt/notesSlides/notesSlide11.xml" Id="Rc8b81edc961945c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ca0086dce49ad" /><Relationship Type="http://schemas.openxmlformats.org/officeDocument/2006/relationships/image" Target="/ppt/media/image12.png" Id="R6bed638526944674" /><Relationship Type="http://schemas.openxmlformats.org/officeDocument/2006/relationships/notesSlide" Target="/ppt/notesSlides/notesSlide12.xml" Id="R5a239705597d446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05ea0071f49d1" /><Relationship Type="http://schemas.openxmlformats.org/officeDocument/2006/relationships/image" Target="/ppt/media/image13.png" Id="Rb01d69e49d2d4f81" /><Relationship Type="http://schemas.openxmlformats.org/officeDocument/2006/relationships/notesSlide" Target="/ppt/notesSlides/notesSlide13.xml" Id="Rb94b1db608b34ec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6192e32a84fb5" /><Relationship Type="http://schemas.openxmlformats.org/officeDocument/2006/relationships/image" Target="/ppt/media/image14.png" Id="Rbf931e0359a74d4f" /><Relationship Type="http://schemas.openxmlformats.org/officeDocument/2006/relationships/notesSlide" Target="/ppt/notesSlides/notesSlide14.xml" Id="R85389d845f484d4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add3503e734f6b" /><Relationship Type="http://schemas.openxmlformats.org/officeDocument/2006/relationships/image" Target="/ppt/media/image15.png" Id="Red796220da354311" /><Relationship Type="http://schemas.openxmlformats.org/officeDocument/2006/relationships/notesSlide" Target="/ppt/notesSlides/notesSlide15.xml" Id="Reeae2044a6214ba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74dc23f3754264" /><Relationship Type="http://schemas.openxmlformats.org/officeDocument/2006/relationships/image" Target="/ppt/media/image16.png" Id="R9c0f7736d3414454" /><Relationship Type="http://schemas.openxmlformats.org/officeDocument/2006/relationships/notesSlide" Target="/ppt/notesSlides/notesSlide16.xml" Id="R427a053e4f014d9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d77759e1d94662" /><Relationship Type="http://schemas.openxmlformats.org/officeDocument/2006/relationships/image" Target="/ppt/media/image17.png" Id="R91576cc06e944498" /><Relationship Type="http://schemas.openxmlformats.org/officeDocument/2006/relationships/notesSlide" Target="/ppt/notesSlides/notesSlide17.xml" Id="R46167782604c457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5b21c65b94dfb" /><Relationship Type="http://schemas.openxmlformats.org/officeDocument/2006/relationships/image" Target="/ppt/media/image18.png" Id="R2b2866328b0548e8" /><Relationship Type="http://schemas.openxmlformats.org/officeDocument/2006/relationships/notesSlide" Target="/ppt/notesSlides/notesSlide18.xml" Id="Re0524011533b4c8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a9d7726c044a3e" /><Relationship Type="http://schemas.openxmlformats.org/officeDocument/2006/relationships/image" Target="/ppt/media/image19.png" Id="R6b22a120d21c432f" /><Relationship Type="http://schemas.openxmlformats.org/officeDocument/2006/relationships/notesSlide" Target="/ppt/notesSlides/notesSlide19.xml" Id="R6673945f89394a0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c9bb16299459d" /><Relationship Type="http://schemas.openxmlformats.org/officeDocument/2006/relationships/image" Target="/ppt/media/image20.png" Id="Rb6be565bb2584bb2" /><Relationship Type="http://schemas.openxmlformats.org/officeDocument/2006/relationships/notesSlide" Target="/ppt/notesSlides/notesSlide20.xml" Id="Re7395851c2a8468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d38eb2d614d0d" /><Relationship Type="http://schemas.openxmlformats.org/officeDocument/2006/relationships/image" Target="/ppt/media/image21.png" Id="Rde9e09da5a724c4a" /><Relationship Type="http://schemas.openxmlformats.org/officeDocument/2006/relationships/notesSlide" Target="/ppt/notesSlides/notesSlide21.xml" Id="R418f0e3492aa403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d8773dafe84341" /><Relationship Type="http://schemas.openxmlformats.org/officeDocument/2006/relationships/image" Target="/ppt/media/image22.png" Id="Rfe9cd0e5538e43fa" /><Relationship Type="http://schemas.openxmlformats.org/officeDocument/2006/relationships/notesSlide" Target="/ppt/notesSlides/notesSlide22.xml" Id="R0886458add4c4ca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c089519f19411c" /><Relationship Type="http://schemas.openxmlformats.org/officeDocument/2006/relationships/image" Target="/ppt/media/image23.png" Id="Rd36df7ef7cf24117" /><Relationship Type="http://schemas.openxmlformats.org/officeDocument/2006/relationships/notesSlide" Target="/ppt/notesSlides/notesSlide23.xml" Id="R00e405e7498749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8c85c97f6943e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274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aa58f30f7e4f6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7172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3366ef0434fd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6255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09badd33f7407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9206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5778c8f5dd4f8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818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b94cc4ac6f414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3981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d903a0873d4df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373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58346f26414ea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9269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68b7e778ef47e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5567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2b4c48d8941e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4264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bba329d83d4f9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269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ed63852694467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3621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1d69e49d2d4f8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2937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931e0359a74d4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6973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796220da35431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15647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0f7736d341445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63091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76cc06e94449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59076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866328b0548e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1942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22a120d21c432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5719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be565bb2584bb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01177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9e09da5a724c4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88928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cd0e5538e43f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32737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6df7ef7cf2411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2842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2026-08-10T14:06:31.8160000Z</dcterms:created>
  <dcterms:modified xsi:type="dcterms:W3CDTF">2026-08-10T14:06:31.8160000Z</dcterms:modified>
</coreProperties>
</file>