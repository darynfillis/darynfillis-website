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e604773ca14164" /><Relationship Type="http://schemas.openxmlformats.org/officeDocument/2006/relationships/extended-properties" Target="/docProps/app.xml" Id="R353f25be1f814839" /><Relationship Type="http://schemas.openxmlformats.org/officeDocument/2006/relationships/officeDocument" Target="/ppt/presentation.xml" Id="Rbae80989bef74d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7a3e081eaf4a81"/>
  </p:sldMasterIdLst>
  <p:notesMasterIdLst>
    <p:notesMasterId xmlns:r="http://schemas.openxmlformats.org/officeDocument/2006/relationships" r:id="R06419470061d421d"/>
  </p:notesMasterIdLst>
  <p:sldIdLst>
    <p:sldId xmlns:r="http://schemas.openxmlformats.org/officeDocument/2006/relationships" id="256" r:id="R6c6477fa5d31424e"/>
    <p:sldId xmlns:r="http://schemas.openxmlformats.org/officeDocument/2006/relationships" id="257" r:id="Rb7b66ff2c28e4550"/>
    <p:sldId xmlns:r="http://schemas.openxmlformats.org/officeDocument/2006/relationships" id="258" r:id="R20d728a85cbd4118"/>
    <p:sldId xmlns:r="http://schemas.openxmlformats.org/officeDocument/2006/relationships" id="259" r:id="R97d99cf50cda4bb6"/>
    <p:sldId xmlns:r="http://schemas.openxmlformats.org/officeDocument/2006/relationships" id="260" r:id="R37fc2c413a754f01"/>
    <p:sldId xmlns:r="http://schemas.openxmlformats.org/officeDocument/2006/relationships" id="261" r:id="R39d23dee8b794d95"/>
    <p:sldId xmlns:r="http://schemas.openxmlformats.org/officeDocument/2006/relationships" id="262" r:id="R96ecfffb974349b5"/>
    <p:sldId xmlns:r="http://schemas.openxmlformats.org/officeDocument/2006/relationships" id="263" r:id="R0c46f3eaca6a4755"/>
    <p:sldId xmlns:r="http://schemas.openxmlformats.org/officeDocument/2006/relationships" id="264" r:id="R016d767e5a014c5f"/>
    <p:sldId xmlns:r="http://schemas.openxmlformats.org/officeDocument/2006/relationships" id="265" r:id="Ra7a57e152b04426d"/>
    <p:sldId xmlns:r="http://schemas.openxmlformats.org/officeDocument/2006/relationships" id="266" r:id="Re74c57b2c82f4ecc"/>
    <p:sldId xmlns:r="http://schemas.openxmlformats.org/officeDocument/2006/relationships" id="267" r:id="Rdc745249b95342c0"/>
    <p:sldId xmlns:r="http://schemas.openxmlformats.org/officeDocument/2006/relationships" id="268" r:id="R39858378fbe34bf9"/>
    <p:sldId xmlns:r="http://schemas.openxmlformats.org/officeDocument/2006/relationships" id="269" r:id="Re3c713536a454874"/>
    <p:sldId xmlns:r="http://schemas.openxmlformats.org/officeDocument/2006/relationships" id="270" r:id="Radee030f16fe45cb"/>
    <p:sldId xmlns:r="http://schemas.openxmlformats.org/officeDocument/2006/relationships" id="271" r:id="R93622c07cfd74bb6"/>
    <p:sldId xmlns:r="http://schemas.openxmlformats.org/officeDocument/2006/relationships" id="272" r:id="R39e8455a2184405a"/>
    <p:sldId xmlns:r="http://schemas.openxmlformats.org/officeDocument/2006/relationships" id="273" r:id="R18a4bdee81e6481c"/>
    <p:sldId xmlns:r="http://schemas.openxmlformats.org/officeDocument/2006/relationships" id="274" r:id="Rc00405c62ec14cbf"/>
    <p:sldId xmlns:r="http://schemas.openxmlformats.org/officeDocument/2006/relationships" id="275" r:id="R3aa6f3cf483c4648"/>
    <p:sldId xmlns:r="http://schemas.openxmlformats.org/officeDocument/2006/relationships" id="276" r:id="Rfc683cb54a994452"/>
    <p:sldId xmlns:r="http://schemas.openxmlformats.org/officeDocument/2006/relationships" id="277" r:id="R65932a0742254dc4"/>
    <p:sldId xmlns:r="http://schemas.openxmlformats.org/officeDocument/2006/relationships" id="278" r:id="R37469a78a12a4c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dcb98aef1400f" /><Relationship Type="http://schemas.openxmlformats.org/officeDocument/2006/relationships/slideMaster" Target="/ppt/slideMasters/slideMaster1.xml" Id="R0b7a3e081eaf4a81" /><Relationship Type="http://schemas.openxmlformats.org/officeDocument/2006/relationships/notesMaster" Target="/ppt/notesMasters/notesMaster1.xml" Id="R06419470061d421d" /><Relationship Type="http://schemas.openxmlformats.org/officeDocument/2006/relationships/presProps" Target="/ppt/presProps.xml" Id="R949128336dec4d56" /><Relationship Type="http://schemas.openxmlformats.org/officeDocument/2006/relationships/tableStyles" Target="/ppt/tableStyles.xml" Id="Rbeb92fe33cae48b6" /><Relationship Type="http://schemas.openxmlformats.org/officeDocument/2006/relationships/slide" Target="/ppt/slides/slide1.xml" Id="R6c6477fa5d31424e" /><Relationship Type="http://schemas.openxmlformats.org/officeDocument/2006/relationships/slide" Target="/ppt/slides/slide2.xml" Id="Rb7b66ff2c28e4550" /><Relationship Type="http://schemas.openxmlformats.org/officeDocument/2006/relationships/slide" Target="/ppt/slides/slide3.xml" Id="R20d728a85cbd4118" /><Relationship Type="http://schemas.openxmlformats.org/officeDocument/2006/relationships/slide" Target="/ppt/slides/slide4.xml" Id="R97d99cf50cda4bb6" /><Relationship Type="http://schemas.openxmlformats.org/officeDocument/2006/relationships/slide" Target="/ppt/slides/slide5.xml" Id="R37fc2c413a754f01" /><Relationship Type="http://schemas.openxmlformats.org/officeDocument/2006/relationships/slide" Target="/ppt/slides/slide6.xml" Id="R39d23dee8b794d95" /><Relationship Type="http://schemas.openxmlformats.org/officeDocument/2006/relationships/slide" Target="/ppt/slides/slide7.xml" Id="R96ecfffb974349b5" /><Relationship Type="http://schemas.openxmlformats.org/officeDocument/2006/relationships/slide" Target="/ppt/slides/slide8.xml" Id="R0c46f3eaca6a4755" /><Relationship Type="http://schemas.openxmlformats.org/officeDocument/2006/relationships/slide" Target="/ppt/slides/slide9.xml" Id="R016d767e5a014c5f" /><Relationship Type="http://schemas.openxmlformats.org/officeDocument/2006/relationships/slide" Target="/ppt/slides/slide10.xml" Id="Ra7a57e152b04426d" /><Relationship Type="http://schemas.openxmlformats.org/officeDocument/2006/relationships/slide" Target="/ppt/slides/slide11.xml" Id="Re74c57b2c82f4ecc" /><Relationship Type="http://schemas.openxmlformats.org/officeDocument/2006/relationships/slide" Target="/ppt/slides/slide12.xml" Id="Rdc745249b95342c0" /><Relationship Type="http://schemas.openxmlformats.org/officeDocument/2006/relationships/slide" Target="/ppt/slides/slide13.xml" Id="R39858378fbe34bf9" /><Relationship Type="http://schemas.openxmlformats.org/officeDocument/2006/relationships/slide" Target="/ppt/slides/slide14.xml" Id="Re3c713536a454874" /><Relationship Type="http://schemas.openxmlformats.org/officeDocument/2006/relationships/slide" Target="/ppt/slides/slide15.xml" Id="Radee030f16fe45cb" /><Relationship Type="http://schemas.openxmlformats.org/officeDocument/2006/relationships/slide" Target="/ppt/slides/slide16.xml" Id="R93622c07cfd74bb6" /><Relationship Type="http://schemas.openxmlformats.org/officeDocument/2006/relationships/slide" Target="/ppt/slides/slide17.xml" Id="R39e8455a2184405a" /><Relationship Type="http://schemas.openxmlformats.org/officeDocument/2006/relationships/slide" Target="/ppt/slides/slide18.xml" Id="R18a4bdee81e6481c" /><Relationship Type="http://schemas.openxmlformats.org/officeDocument/2006/relationships/slide" Target="/ppt/slides/slide19.xml" Id="Rc00405c62ec14cbf" /><Relationship Type="http://schemas.openxmlformats.org/officeDocument/2006/relationships/slide" Target="/ppt/slides/slide20.xml" Id="R3aa6f3cf483c4648" /><Relationship Type="http://schemas.openxmlformats.org/officeDocument/2006/relationships/slide" Target="/ppt/slides/slide21.xml" Id="Rfc683cb54a994452" /><Relationship Type="http://schemas.openxmlformats.org/officeDocument/2006/relationships/slide" Target="/ppt/slides/slide22.xml" Id="R65932a0742254dc4" /><Relationship Type="http://schemas.openxmlformats.org/officeDocument/2006/relationships/slide" Target="/ppt/slides/slide23.xml" Id="R37469a78a12a4c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a48dbf846840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0230f8164d4c9b" /><Relationship Type="http://schemas.openxmlformats.org/officeDocument/2006/relationships/notesMaster" Target="/ppt/notesMasters/notesMaster1.xml" Id="Rece0859bfd134e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3e60c36fb94b55" /><Relationship Type="http://schemas.openxmlformats.org/officeDocument/2006/relationships/notesMaster" Target="/ppt/notesMasters/notesMaster1.xml" Id="Rdd8acff85d784f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bf4baa19cd4a61" /><Relationship Type="http://schemas.openxmlformats.org/officeDocument/2006/relationships/notesMaster" Target="/ppt/notesMasters/notesMaster1.xml" Id="Rfc780b9ca52b4b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a2a5fe1b1d47b6" /><Relationship Type="http://schemas.openxmlformats.org/officeDocument/2006/relationships/notesMaster" Target="/ppt/notesMasters/notesMaster1.xml" Id="R772dfe505e9a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85b733e30b4bb5" /><Relationship Type="http://schemas.openxmlformats.org/officeDocument/2006/relationships/notesMaster" Target="/ppt/notesMasters/notesMaster1.xml" Id="Rf3e668dba9564f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d2cd6f1a9c4747" /><Relationship Type="http://schemas.openxmlformats.org/officeDocument/2006/relationships/notesMaster" Target="/ppt/notesMasters/notesMaster1.xml" Id="R13ff5a2e2eff4c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225532db3a48ed" /><Relationship Type="http://schemas.openxmlformats.org/officeDocument/2006/relationships/notesMaster" Target="/ppt/notesMasters/notesMaster1.xml" Id="Rba1d22ed2d6248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2cd031115c41a5" /><Relationship Type="http://schemas.openxmlformats.org/officeDocument/2006/relationships/notesMaster" Target="/ppt/notesMasters/notesMaster1.xml" Id="Rd31a56682faa4b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70849bc7b1428e" /><Relationship Type="http://schemas.openxmlformats.org/officeDocument/2006/relationships/notesMaster" Target="/ppt/notesMasters/notesMaster1.xml" Id="Re0448e472c4943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6c2f0617ac4286" /><Relationship Type="http://schemas.openxmlformats.org/officeDocument/2006/relationships/notesMaster" Target="/ppt/notesMasters/notesMaster1.xml" Id="R63b183a14c3847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48e6d397314ef4" /><Relationship Type="http://schemas.openxmlformats.org/officeDocument/2006/relationships/notesMaster" Target="/ppt/notesMasters/notesMaster1.xml" Id="R26ae590298484f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f3f7d62e174160" /><Relationship Type="http://schemas.openxmlformats.org/officeDocument/2006/relationships/notesMaster" Target="/ppt/notesMasters/notesMaster1.xml" Id="R5b80a959d8b345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8d60f5babf4ac0" /><Relationship Type="http://schemas.openxmlformats.org/officeDocument/2006/relationships/notesMaster" Target="/ppt/notesMasters/notesMaster1.xml" Id="R87c10e8cd4d84b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762163eaa64997" /><Relationship Type="http://schemas.openxmlformats.org/officeDocument/2006/relationships/notesMaster" Target="/ppt/notesMasters/notesMaster1.xml" Id="R86f6f7ab40d848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8225dced8f4b5d" /><Relationship Type="http://schemas.openxmlformats.org/officeDocument/2006/relationships/notesMaster" Target="/ppt/notesMasters/notesMaster1.xml" Id="R5d1bf02e4c674b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befcd929a64a87" /><Relationship Type="http://schemas.openxmlformats.org/officeDocument/2006/relationships/notesMaster" Target="/ppt/notesMasters/notesMaster1.xml" Id="R26768e8d61e549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5c977ae0b343f9" /><Relationship Type="http://schemas.openxmlformats.org/officeDocument/2006/relationships/notesMaster" Target="/ppt/notesMasters/notesMaster1.xml" Id="R59cd80f9d78841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47a37b30e24c99" /><Relationship Type="http://schemas.openxmlformats.org/officeDocument/2006/relationships/notesMaster" Target="/ppt/notesMasters/notesMaster1.xml" Id="R7ed5d78cffb8478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124f03c5644f87" /><Relationship Type="http://schemas.openxmlformats.org/officeDocument/2006/relationships/notesMaster" Target="/ppt/notesMasters/notesMaster1.xml" Id="R0c2de8ce0d6845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dc75057a264ef4" /><Relationship Type="http://schemas.openxmlformats.org/officeDocument/2006/relationships/notesMaster" Target="/ppt/notesMasters/notesMaster1.xml" Id="Rab0576fff07544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c46c10f97049cc" /><Relationship Type="http://schemas.openxmlformats.org/officeDocument/2006/relationships/notesMaster" Target="/ppt/notesMasters/notesMaster1.xml" Id="R97b8e6be642e48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0c7731f1254cbf" /><Relationship Type="http://schemas.openxmlformats.org/officeDocument/2006/relationships/notesMaster" Target="/ppt/notesMasters/notesMaster1.xml" Id="Rb8cc26a930f74a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cfa9e0d60043af" /><Relationship Type="http://schemas.openxmlformats.org/officeDocument/2006/relationships/notesMaster" Target="/ppt/notesMasters/notesMaster1.xml" Id="Re515e71e964a4b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1: Title. Keep it brief. The promise is about the agent, not the book.]</a:t>
            </a:r>
          </a:p>
          <a:p xmlns:a="http://schemas.openxmlformats.org/drawingml/2006/main">
            <a:r>
              <a:t>"The third side is real estate. That means you already have a seat in the wealth conversation."</a:t>
            </a:r>
          </a:p>
          <a:p xmlns:a="http://schemas.openxmlformats.org/drawingml/2006/main">
            <a:r>
              <a:t>"Today I want to show you how important your role really is, and how to use it without stepping outside your lane."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1: Bold opening. Let the question finish typing. Pause.]</a:t>
            </a:r>
          </a:p>
          <a:p xmlns:a="http://schemas.openxmlformats.org/drawingml/2006/main">
            <a:r>
              <a:t>"Before we talk about price, property, or financing, what are we trying to make possible?"</a:t>
            </a:r>
          </a:p>
          <a:p xmlns:a="http://schemas.openxmlformats.org/drawingml/2006/main">
            <a:r>
              <a:t>Ask the room for one life event that recently caused a client to move.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1 continued: The stakes. Reveal Home, Real Estate, and Mortgage.]</a:t>
            </a:r>
          </a:p>
          <a:p xmlns:a="http://schemas.openxmlformats.org/drawingml/2006/main">
            <a:r>
              <a:t>"For many households, the home and mortgage are the biggest financial positions they manage, but the decision is still deeply personal."</a:t>
            </a:r>
          </a:p>
          <a:p xmlns:a="http://schemas.openxmlformats.org/drawingml/2006/main">
            <a:r>
              <a:t>"That is why the transaction cannot be separated from the life around it."</a:t>
            </a:r>
          </a:p>
          <a:p xmlns:a="http://schemas.openxmlformats.org/drawingml/2006/main">
            <a:r>
              <a:t>[Sources] Todd K. Ballenger, Borrow Smart Repay Smart, 2020 edition, PDF pp. 11-17.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2: Credibility. Relevant proof only.]</a:t>
            </a:r>
          </a:p>
          <a:p xmlns:a="http://schemas.openxmlformats.org/drawingml/2006/main">
            <a:r>
              <a:t>"My job is to connect the property decision to the goal, timeline, cash flow, liquidity, equity, and risk before recommending a structure."</a:t>
            </a:r>
          </a:p>
          <a:p xmlns:a="http://schemas.openxmlformats.org/drawingml/2006/main">
            <a:r>
              <a:t>"When the agent and mortgage strategist ask better questions together, the client can decide before an offer creates urgency."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Steps 3 and 4: Roadmap plus unique mechanism. Reveal Assets, then Liabilities. Pause and ask what belongs above them. Reveal Side 03 and the triangle together. Reveal the client at the center last.]</a:t>
            </a:r>
          </a:p>
          <a:p xmlns:a="http://schemas.openxmlformats.org/drawingml/2006/main">
            <a:r>
              <a:t>"The classic balance sheet gives us assets on one side and liabilities on the other."</a:t>
            </a:r>
          </a:p>
          <a:p xmlns:a="http://schemas.openxmlformats.org/drawingml/2006/main">
            <a:r>
              <a:t>[Pause before the third click.]</a:t>
            </a:r>
          </a:p>
          <a:p xmlns:a="http://schemas.openxmlformats.org/drawingml/2006/main">
            <a:r>
              <a:t>"Borrow Smart adds the third side: real estate. This is where you work every day."</a:t>
            </a:r>
          </a:p>
          <a:p xmlns:a="http://schemas.openxmlformats.org/drawingml/2006/main">
            <a:r>
              <a:t>"The client and the life they are building stay at the center of all three."</a:t>
            </a:r>
          </a:p>
          <a:p xmlns:a="http://schemas.openxmlformats.org/drawingml/2006/main">
            <a:r>
              <a:t>Do not call real estate guaranteed wealth. Emphasize position, choices, costs, and risk.</a:t>
            </a:r>
          </a:p>
          <a:p xmlns:a="http://schemas.openxmlformats.org/drawingml/2006/main">
            <a:r>
              <a:t>[Sources] Todd K. Ballenger, Borrow Smart Repay Smart, 2020 edition, PDF pp. 23-28. Todd Ballenger, The Borrow Smart Chronicles, Rentals and Wealth Gaps, Aug. 2, 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5: Break false belief 1. Validate the boundary first.]</a:t>
            </a:r>
          </a:p>
          <a:p xmlns:a="http://schemas.openxmlformats.org/drawingml/2006/main">
            <a:r>
              <a:t>"You are right not to give investment, tax, legal, insurance, or mortgage advice outside your expertise."</a:t>
            </a:r>
          </a:p>
          <a:p xmlns:a="http://schemas.openxmlformats.org/drawingml/2006/main">
            <a:r>
              <a:t>"But staying in your lane does not mean shrinking the conversation. It means asking the questions that bring the right experts into it."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[Reveal one influence point at a time.]</a:t>
            </a:r>
          </a:p>
          <a:p xmlns:a="http://schemas.openxmlformats.org/drawingml/2006/main">
            <a:r>
              <a:t>Connect Location, Property, Contract, and Possibility to one real buyer you have helped.</a:t>
            </a:r>
          </a:p>
          <a:p xmlns:a="http://schemas.openxmlformats.org/drawingml/2006/main">
            <a:r>
              <a:t>"The agent shapes the third side before the lender ever finalizes the liability."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[Audience engagement. Ask for a real show of hands before revealing all four choices.]</a:t>
            </a:r>
          </a:p>
          <a:p xmlns:a="http://schemas.openxmlformats.org/drawingml/2006/main">
            <a:r>
              <a:t>Follow with: "The point is not that one starting place is always wrong. The order changes what the client notices and what they may miss."</a:t>
            </a:r>
          </a:p>
          <a:p xmlns:a="http://schemas.openxmlformats.org/drawingml/2006/main">
            <a:r>
              <a:t>"Life first does not ignore qualification. It gives qualification a purpose."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6: Teach the foundation. Keep the accounting simple.]</a:t>
            </a:r>
          </a:p>
          <a:p xmlns:a="http://schemas.openxmlformats.org/drawingml/2006/main">
            <a:r>
              <a:t>"Moving cash from checking to an investment or using it to reduce debt can be neutral in the moment. The location changes what the money can do later."</a:t>
            </a:r>
          </a:p>
          <a:p xmlns:a="http://schemas.openxmlformats.org/drawingml/2006/main">
            <a:r>
              <a:t>"Where you place your money matters."</a:t>
            </a:r>
          </a:p>
          <a:p xmlns:a="http://schemas.openxmlformats.org/drawingml/2006/main">
            <a:r>
              <a:t>[Sources] Todd K. Ballenger, Borrow Smart Repay Smart, 2020 edition, PDF pp. 23-26.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6: Teach the third side. Reveal asset, real estate, liability.]</a:t>
            </a:r>
          </a:p>
          <a:p xmlns:a="http://schemas.openxmlformats.org/drawingml/2006/main">
            <a:r>
              <a:t>"Real estate is unusual because the client lives inside the asset while the property carries costs and often a mortgage."</a:t>
            </a:r>
          </a:p>
          <a:p xmlns:a="http://schemas.openxmlformats.org/drawingml/2006/main">
            <a:r>
              <a:t>"The third side connects the life, the asset, and the liability."</a:t>
            </a:r>
          </a:p>
          <a:p xmlns:a="http://schemas.openxmlformats.org/drawingml/2006/main">
            <a:r>
              <a:t>[Sources] Todd K. Ballenger, Borrow Smart Repay Smart, 2020 edition, PDF pp. 11-17 and 23-28. Todd K. Ballenger, The Key to Success in a Compliant World, Mortgage Professional, June 6, 2012.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[Slow down. This is the life-first bridge.]</a:t>
            </a:r>
          </a:p>
          <a:p xmlns:a="http://schemas.openxmlformats.org/drawingml/2006/main">
            <a:r>
              <a:t>"The house is the structure and the financial position. Home is the life lived inside it."</a:t>
            </a:r>
          </a:p>
          <a:p xmlns:a="http://schemas.openxmlformats.org/drawingml/2006/main">
            <a:r>
              <a:t>Ask: "What changes when we treat those as related, but not identical?"</a:t>
            </a:r>
          </a:p>
          <a:p xmlns:a="http://schemas.openxmlformats.org/drawingml/2006/main">
            <a:r>
              <a:t>[Sources] Todd K. Ballenger, Borrow Smart Repay Smart, 2020 edition, PDF pp. 11-13.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5: Break false belief 2.]</a:t>
            </a:r>
          </a:p>
          <a:p xmlns:a="http://schemas.openxmlformats.org/drawingml/2006/main">
            <a:r>
              <a:t>"Qualification is important. It tells us what may be available under a set of guidelines."</a:t>
            </a:r>
          </a:p>
          <a:p xmlns:a="http://schemas.openxmlformats.org/drawingml/2006/main">
            <a:r>
              <a:t>"It does not decide what leaves room for the rest of the client's life."</a:t>
            </a:r>
          </a:p>
          <a:p xmlns:a="http://schemas.openxmlformats.org/drawingml/2006/main">
            <a:r>
              <a:t>Avoid using suitability as a legal claim. Keep the language to fit, tradeoffs, and client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[Reframe the agent as a question leader, not a substitute advisor.]</a:t>
            </a:r>
          </a:p>
          <a:p xmlns:a="http://schemas.openxmlformats.org/drawingml/2006/main">
            <a:r>
              <a:t>Reveal Ask, Surface, Connect, Coordinate, Document, and Revisit.</a:t>
            </a:r>
          </a:p>
          <a:p xmlns:a="http://schemas.openxmlformats.org/drawingml/2006/main">
            <a:r>
              <a:t>"Your value is not knowing every answer. It is knowing when the client needs a bigger question and who should answer it."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6: Teach the usable framework. Reveal the four questions.]</a:t>
            </a:r>
          </a:p>
          <a:p xmlns:a="http://schemas.openxmlformats.org/drawingml/2006/main">
            <a:r>
              <a:t>"Life tells us the destination. Property tells us the tradeoffs. Position tells us what changes financially. Path tells us what must remain possible."</a:t>
            </a:r>
          </a:p>
          <a:p xmlns:a="http://schemas.openxmlformats.org/drawingml/2006/main">
            <a:r>
              <a:t>Ask the room to repeat the four words: Life. Property. Position. Path.</a:t>
            </a:r>
          </a:p>
          <a:p xmlns:a="http://schemas.openxmlformats.org/drawingml/2006/main">
            <a:r>
              <a:t>[Sources] The Third-Side Conversation is Daryn Fillis's life-first synthesis of the Borrow Smart balance-sheet and seven-step teachings.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[Apply the framework before search.]</a:t>
            </a:r>
          </a:p>
          <a:p xmlns:a="http://schemas.openxmlformats.org/drawingml/2006/main">
            <a:r>
              <a:t>"Guardrails are not limitations. They protect the client from letting a beautiful listing rewrite the plan."</a:t>
            </a:r>
          </a:p>
          <a:p xmlns:a="http://schemas.openxmlformats.org/drawingml/2006/main">
            <a:r>
              <a:t>Ask agents which guardrail is usually missing from their first buyer 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[Apply the framework during search. Reveal each category.]</a:t>
            </a:r>
          </a:p>
          <a:p xmlns:a="http://schemas.openxmlformats.org/drawingml/2006/main">
            <a:r>
              <a:t>"A showing is also due diligence on the third side."</a:t>
            </a:r>
          </a:p>
          <a:p xmlns:a="http://schemas.openxmlformats.org/drawingml/2006/main">
            <a:r>
              <a:t>Use a local example such as HOA dues, insurance, condition, commute, or project eligibility. Do not promise marketability or appreciation.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[Apply the framework before offer.]</a:t>
            </a:r>
          </a:p>
          <a:p xmlns:a="http://schemas.openxmlformats.org/drawingml/2006/main">
            <a:r>
              <a:t>"The strongest offer starts before it is written."</a:t>
            </a:r>
          </a:p>
          <a:p xmlns:a="http://schemas.openxmlformats.org/drawingml/2006/main">
            <a:r>
              <a:t>"Check the property, compare the tradeoffs, and coordinate the execution while the client still has room to think."</a:t>
            </a:r>
          </a:p>
          <a:p xmlns:a="http://schemas.openxmlformats.org/drawingml/2006/main">
            <a:r>
              <a:t>Invite one agent to name a recent issue that better coordination could have surfaced sooner.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[Show the relationship after closing.]</a:t>
            </a:r>
          </a:p>
          <a:p xmlns:a="http://schemas.openxmlformats.org/drawingml/2006/main">
            <a:r>
              <a:t>"Closing is the starting line. The client is now living with the payment, the property, and the plan."</a:t>
            </a:r>
          </a:p>
          <a:p xmlns:a="http://schemas.openxmlformats.org/drawingml/2006/main">
            <a:r>
              <a:t>"The loan is temporary. The strategy lasts."</a:t>
            </a:r>
          </a:p>
          <a:p xmlns:a="http://schemas.openxmlformats.org/drawingml/2006/main">
            <a:r>
              <a:t>[Sources] Todd K. Ballenger, Borrow Smart Repay Smart, 2020 edition, Management and Discipline, PDF pp. 180-205.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[Position the team without blurring professional boundaries.]</a:t>
            </a:r>
          </a:p>
          <a:p xmlns:a="http://schemas.openxmlformats.org/drawingml/2006/main">
            <a:r>
              <a:t>"The agent owns the market and property conversation. The mortgage strategist owns the lending analysis. Other qualified professionals confirm tax, insurance, estate, and investment questions. The client owns the decision."</a:t>
            </a:r>
          </a:p>
          <a:p xmlns:a="http://schemas.openxmlformats.org/drawingml/2006/main">
            <a:r>
              <a:t>"No one professional owns the whole wealth journey. The value is in the connection."</a:t>
            </a:r>
          </a:p>
          <a:p xmlns:a="http://schemas.openxmlformats.org/drawingml/2006/main">
            <a:r>
              <a:t>[Sources] Todd K. Ballenger, Borrow Smart Repay Smart, 2020 edition, PDF pp. 180-183.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7: Scenario. This is illustrative. Do not invent numbers.]</a:t>
            </a:r>
          </a:p>
          <a:p xmlns:a="http://schemas.openxmlformats.org/drawingml/2006/main">
            <a:r>
              <a:t>Read both options without endorsing either one.</a:t>
            </a:r>
          </a:p>
          <a:p xmlns:a="http://schemas.openxmlformats.org/drawingml/2006/main">
            <a:r>
              <a:t>Ask the room: "What do we still need to know?" Listen for time horizon, monthly comfort, reserves, childcare, commute, risk, property condition, and future plans.</a:t>
            </a:r>
          </a:p>
          <a:p xmlns:a="http://schemas.openxmlformats.org/drawingml/2006/main">
            <a:r>
              <a:t>"The better option is the one that fits the client after the missing facts are visible."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Steps 8 and 9: Interest check plus concrete offer.]</a:t>
            </a:r>
          </a:p>
          <a:p xmlns:a="http://schemas.openxmlformats.org/drawingml/2006/main">
            <a:r>
              <a:t>Ask: "Would a 15-minute third-side review make one current client clearer?" Wait for hands or chat responses.</a:t>
            </a:r>
          </a:p>
          <a:p xmlns:a="http://schemas.openxmlformats.org/drawingml/2006/main">
            <a:r>
              <a:t>Invite them to bring one current buyer or homeowner. Then scan the code.</a:t>
            </a:r>
          </a:p>
          <a:p xmlns:a="http://schemas.openxmlformats.org/drawingml/2006/main">
            <a:r>
              <a:t>"Life. Property. Position. Path. Four questions before the next structure or offer."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10: Emotional close. Warm, direct, unhurried.]</a:t>
            </a:r>
          </a:p>
          <a:p xmlns:a="http://schemas.openxmlformats.org/drawingml/2006/main">
            <a:r>
              <a:t>"You help clients choose more than the house."</a:t>
            </a:r>
          </a:p>
          <a:p xmlns:a="http://schemas.openxmlformats.org/drawingml/2006/main">
            <a:r>
              <a:t>"You help shape the third side of the balance sheet and the options that remain after closing."</a:t>
            </a:r>
          </a:p>
          <a:p xmlns:a="http://schemas.openxmlformats.org/drawingml/2006/main">
            <a:r>
              <a:t>"Start with the life. Then structure the loan."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[STTS Step 11: Q&amp;A. Keep the third-side question visible.]</a:t>
            </a:r>
          </a:p>
          <a:p xmlns:a="http://schemas.openxmlformats.org/drawingml/2006/main">
            <a:r>
              <a:t>Invite questions about one real buyer or homeowner, not broad market predictions.</a:t>
            </a:r>
          </a:p>
          <a:p xmlns:a="http://schemas.openxmlformats.org/drawingml/2006/main">
            <a:r>
              <a:t>Useful prompts: life change, property tradeoff, cash and reserves, liabilities, timing, and the post-closing path.</a:t>
            </a:r>
          </a:p>
          <a:p xmlns:a="http://schemas.openxmlformats.org/drawingml/2006/main">
            <a:r>
              <a:t>Close each answer by identifying the next better question and the right professional to answer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1c0cc1b7e4c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b2ff5df9424b95" /><Relationship Type="http://schemas.openxmlformats.org/officeDocument/2006/relationships/slideLayout" Target="/ppt/slideLayouts/slideLayout1.xml" Id="Rfae9a3c621cf4d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e9a3c621cf4d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42848745c461a" /><Relationship Type="http://schemas.openxmlformats.org/officeDocument/2006/relationships/image" Target="/ppt/media/image.png" Id="R7c06dee7c3594cd6" /><Relationship Type="http://schemas.openxmlformats.org/officeDocument/2006/relationships/notesSlide" Target="/ppt/notesSlides/notesSlide1.xml" Id="Rb381f6d83c764a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86e73508544e3" /><Relationship Type="http://schemas.openxmlformats.org/officeDocument/2006/relationships/image" Target="/ppt/media/image2.png" Id="R9492c4e8b4d145d8" /><Relationship Type="http://schemas.openxmlformats.org/officeDocument/2006/relationships/notesSlide" Target="/ppt/notesSlides/notesSlide2.xml" Id="R24f5d889c95f41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a165d6f6c4616" /><Relationship Type="http://schemas.openxmlformats.org/officeDocument/2006/relationships/image" Target="/ppt/media/image3.png" Id="R19bfc422320c440f" /><Relationship Type="http://schemas.openxmlformats.org/officeDocument/2006/relationships/notesSlide" Target="/ppt/notesSlides/notesSlide3.xml" Id="R8c765250bb4846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6ca39b35a48f0" /><Relationship Type="http://schemas.openxmlformats.org/officeDocument/2006/relationships/image" Target="/ppt/media/image4.png" Id="R6592283e415a4c08" /><Relationship Type="http://schemas.openxmlformats.org/officeDocument/2006/relationships/notesSlide" Target="/ppt/notesSlides/notesSlide4.xml" Id="R28e9287c53fd45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05d26682d4c45" /><Relationship Type="http://schemas.openxmlformats.org/officeDocument/2006/relationships/image" Target="/ppt/media/image5.png" Id="R61a4093fac7f47bc" /><Relationship Type="http://schemas.openxmlformats.org/officeDocument/2006/relationships/notesSlide" Target="/ppt/notesSlides/notesSlide5.xml" Id="Rec3e1e5f178849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e45dd0d4e4d13" /><Relationship Type="http://schemas.openxmlformats.org/officeDocument/2006/relationships/image" Target="/ppt/media/image6.png" Id="R2dd9b334e2a2450e" /><Relationship Type="http://schemas.openxmlformats.org/officeDocument/2006/relationships/notesSlide" Target="/ppt/notesSlides/notesSlide6.xml" Id="R392cbdb2c8fc49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08f549135450c" /><Relationship Type="http://schemas.openxmlformats.org/officeDocument/2006/relationships/image" Target="/ppt/media/image7.png" Id="R80fbdebe9ff1458c" /><Relationship Type="http://schemas.openxmlformats.org/officeDocument/2006/relationships/notesSlide" Target="/ppt/notesSlides/notesSlide7.xml" Id="R89b75539160e45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1f275c3874281" /><Relationship Type="http://schemas.openxmlformats.org/officeDocument/2006/relationships/image" Target="/ppt/media/image8.png" Id="R4787da19024647a4" /><Relationship Type="http://schemas.openxmlformats.org/officeDocument/2006/relationships/notesSlide" Target="/ppt/notesSlides/notesSlide8.xml" Id="R5c75f60fab0845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b951c0a3044b3" /><Relationship Type="http://schemas.openxmlformats.org/officeDocument/2006/relationships/image" Target="/ppt/media/image9.png" Id="Rfc5e69b37894463c" /><Relationship Type="http://schemas.openxmlformats.org/officeDocument/2006/relationships/notesSlide" Target="/ppt/notesSlides/notesSlide9.xml" Id="Rb64d2de9ba1f4b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657ed69cb4a45" /><Relationship Type="http://schemas.openxmlformats.org/officeDocument/2006/relationships/image" Target="/ppt/media/image10.png" Id="R8262565cdeea4478" /><Relationship Type="http://schemas.openxmlformats.org/officeDocument/2006/relationships/notesSlide" Target="/ppt/notesSlides/notesSlide10.xml" Id="Re77c13dbb91f4b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6bc5e33db4512" /><Relationship Type="http://schemas.openxmlformats.org/officeDocument/2006/relationships/image" Target="/ppt/media/image11.png" Id="R706f1337ef114da7" /><Relationship Type="http://schemas.openxmlformats.org/officeDocument/2006/relationships/notesSlide" Target="/ppt/notesSlides/notesSlide11.xml" Id="Rb6850b15ca2646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f784b40b3406c" /><Relationship Type="http://schemas.openxmlformats.org/officeDocument/2006/relationships/image" Target="/ppt/media/image12.png" Id="Rf3e9e39fc16c47af" /><Relationship Type="http://schemas.openxmlformats.org/officeDocument/2006/relationships/notesSlide" Target="/ppt/notesSlides/notesSlide12.xml" Id="R605e30dc938340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374da02ef424b" /><Relationship Type="http://schemas.openxmlformats.org/officeDocument/2006/relationships/image" Target="/ppt/media/image13.png" Id="R21d3340832a44842" /><Relationship Type="http://schemas.openxmlformats.org/officeDocument/2006/relationships/notesSlide" Target="/ppt/notesSlides/notesSlide13.xml" Id="R96fb3f4f23a645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f2a3ae185480f" /><Relationship Type="http://schemas.openxmlformats.org/officeDocument/2006/relationships/image" Target="/ppt/media/image14.png" Id="R136ed2bc0bd84ceb" /><Relationship Type="http://schemas.openxmlformats.org/officeDocument/2006/relationships/notesSlide" Target="/ppt/notesSlides/notesSlide14.xml" Id="Rc923e34e8c6b47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e3cd2e93f4ac3" /><Relationship Type="http://schemas.openxmlformats.org/officeDocument/2006/relationships/image" Target="/ppt/media/image15.png" Id="Rff6db10bbf864564" /><Relationship Type="http://schemas.openxmlformats.org/officeDocument/2006/relationships/notesSlide" Target="/ppt/notesSlides/notesSlide15.xml" Id="Ra0791e8ea07c4f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ca061611a4e56" /><Relationship Type="http://schemas.openxmlformats.org/officeDocument/2006/relationships/image" Target="/ppt/media/image16.png" Id="R7acb708121f24412" /><Relationship Type="http://schemas.openxmlformats.org/officeDocument/2006/relationships/notesSlide" Target="/ppt/notesSlides/notesSlide16.xml" Id="Rd67a28a8c70b4a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ac4917def447b" /><Relationship Type="http://schemas.openxmlformats.org/officeDocument/2006/relationships/image" Target="/ppt/media/image17.png" Id="Ra33d111ed7da468a" /><Relationship Type="http://schemas.openxmlformats.org/officeDocument/2006/relationships/notesSlide" Target="/ppt/notesSlides/notesSlide17.xml" Id="R76f5d1294a1747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07bd82de24d81" /><Relationship Type="http://schemas.openxmlformats.org/officeDocument/2006/relationships/image" Target="/ppt/media/image18.png" Id="R4d1d02d718db4efd" /><Relationship Type="http://schemas.openxmlformats.org/officeDocument/2006/relationships/notesSlide" Target="/ppt/notesSlides/notesSlide18.xml" Id="Ra7dde6b940a74f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677147127419c" /><Relationship Type="http://schemas.openxmlformats.org/officeDocument/2006/relationships/image" Target="/ppt/media/image19.png" Id="Rbbd0616560c04edd" /><Relationship Type="http://schemas.openxmlformats.org/officeDocument/2006/relationships/notesSlide" Target="/ppt/notesSlides/notesSlide19.xml" Id="R236357ca21454b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bc97b08224718" /><Relationship Type="http://schemas.openxmlformats.org/officeDocument/2006/relationships/image" Target="/ppt/media/image20.png" Id="R7d0332a0608d4cbf" /><Relationship Type="http://schemas.openxmlformats.org/officeDocument/2006/relationships/notesSlide" Target="/ppt/notesSlides/notesSlide20.xml" Id="Rf5279fb0d1844f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b5ff9cb1e4150" /><Relationship Type="http://schemas.openxmlformats.org/officeDocument/2006/relationships/image" Target="/ppt/media/image21.png" Id="R3d55608f4e8d4498" /><Relationship Type="http://schemas.openxmlformats.org/officeDocument/2006/relationships/notesSlide" Target="/ppt/notesSlides/notesSlide21.xml" Id="R6c6aa9ebc1594d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c3a9f6fc646ca" /><Relationship Type="http://schemas.openxmlformats.org/officeDocument/2006/relationships/image" Target="/ppt/media/image22.png" Id="R2425c8d07da649c0" /><Relationship Type="http://schemas.openxmlformats.org/officeDocument/2006/relationships/notesSlide" Target="/ppt/notesSlides/notesSlide22.xml" Id="Rf870669f97db48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75edb3d584265" /><Relationship Type="http://schemas.openxmlformats.org/officeDocument/2006/relationships/image" Target="/ppt/media/image23.png" Id="Rd3d92d24d8424dcf" /><Relationship Type="http://schemas.openxmlformats.org/officeDocument/2006/relationships/notesSlide" Target="/ppt/notesSlides/notesSlide23.xml" Id="R8c6c0b997a4440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6dee7c3594c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34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2c4e8b4d145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09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fc422320c44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25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2283e415a4c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2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4093fac7f47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89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9b334e2a245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92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bdebe9ff145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3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7da19024647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25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e69b3789446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96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2565cdeea44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465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f1337ef114d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755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9e39fc16c47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131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3340832a448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88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ed2bc0bd84c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3228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db10bbf8645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35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b708121f244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180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d111ed7da46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83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d02d718db4e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794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0616560c04e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18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332a0608d4c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106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5608f4e8d44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020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5c8d07da649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414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92d24d8424d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80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2026-08-10T14:35:22.4130000Z</dcterms:created>
  <dcterms:modified xsi:type="dcterms:W3CDTF">2026-08-10T14:35:22.4130000Z</dcterms:modified>
</coreProperties>
</file>